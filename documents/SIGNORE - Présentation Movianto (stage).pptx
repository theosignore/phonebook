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59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012E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6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CE145-1116-4A9C-B758-6423C3A403CD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2176D-EBE9-42C1-9FB0-CCB7E7D06C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1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A2176D-EBE9-42C1-9FB0-CCB7E7D06C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16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Les</a:t>
            </a:r>
            <a:r>
              <a:rPr lang="fr-FR" baseline="0" dirty="0" smtClean="0"/>
              <a:t> </a:t>
            </a:r>
            <a:r>
              <a:rPr lang="fr-FR" baseline="0" dirty="0" smtClean="0"/>
              <a:t>infos là-dessus sur internet sont peut-être nombreuse, mais bien cachées dans ce cas. Même le service commerce n’a pu m’en dire plus.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A2176D-EBE9-42C1-9FB0-CCB7E7D06C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95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A2176D-EBE9-42C1-9FB0-CCB7E7D06CA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44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J’ai</a:t>
            </a:r>
            <a:r>
              <a:rPr lang="fr-FR" baseline="0" dirty="0" smtClean="0"/>
              <a:t> pas vraiment d’autre informations.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A2176D-EBE9-42C1-9FB0-CCB7E7D06C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77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A2176D-EBE9-42C1-9FB0-CCB7E7D06C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79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Pas grand</a:t>
            </a:r>
            <a:r>
              <a:rPr lang="fr-FR" baseline="0" dirty="0" smtClean="0"/>
              <a:t> chose concernant le développement durable</a:t>
            </a:r>
            <a:r>
              <a:rPr lang="fr-FR" baseline="0" dirty="0" smtClean="0"/>
              <a:t>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A2176D-EBE9-42C1-9FB0-CCB7E7D06C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16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À</a:t>
            </a:r>
            <a:r>
              <a:rPr lang="fr-FR" baseline="0" dirty="0" smtClean="0"/>
              <a:t> ceci près que je ne fais pas vraiment partie de l’équipe vu qu’aucun d’entre eux ne fait de développement web</a:t>
            </a:r>
            <a:r>
              <a:rPr lang="fr-FR" baseline="0" dirty="0" smtClean="0"/>
              <a:t>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A2176D-EBE9-42C1-9FB0-CCB7E7D06C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02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Je vais</a:t>
            </a:r>
            <a:r>
              <a:rPr lang="fr-FR" baseline="0" dirty="0" smtClean="0"/>
              <a:t> être honnête: j’ai mis longtemps avant de comprendre de quoi il en retournait. Et je n’ai compris que ça</a:t>
            </a:r>
            <a:r>
              <a:rPr lang="fr-FR" baseline="0" dirty="0" smtClean="0"/>
              <a:t>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A2176D-EBE9-42C1-9FB0-CCB7E7D06C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93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8A67-689C-420D-94AC-C46E12AD219A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5756-0F4A-4690-A666-C03A95011BB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69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8A67-689C-420D-94AC-C46E12AD219A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5756-0F4A-4690-A666-C03A95011BB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35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8A67-689C-420D-94AC-C46E12AD219A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5756-0F4A-4690-A666-C03A95011BB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4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8A67-689C-420D-94AC-C46E12AD219A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5756-0F4A-4690-A666-C03A95011BB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12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8A67-689C-420D-94AC-C46E12AD219A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5756-0F4A-4690-A666-C03A95011BB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19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8A67-689C-420D-94AC-C46E12AD219A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5756-0F4A-4690-A666-C03A95011BB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8A67-689C-420D-94AC-C46E12AD219A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5756-0F4A-4690-A666-C03A95011BB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41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8A67-689C-420D-94AC-C46E12AD219A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5756-0F4A-4690-A666-C03A95011BB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7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8A67-689C-420D-94AC-C46E12AD219A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5756-0F4A-4690-A666-C03A95011BB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7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8A67-689C-420D-94AC-C46E12AD219A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5756-0F4A-4690-A666-C03A95011BB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2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8A67-689C-420D-94AC-C46E12AD219A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5756-0F4A-4690-A666-C03A95011BB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85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8A67-689C-420D-94AC-C46E12AD219A}" type="datetimeFigureOut">
              <a:rPr lang="en-US" smtClean="0"/>
              <a:t>6/28/2019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25756-0F4A-4690-A666-C03A95011BB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4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859" y="2656955"/>
            <a:ext cx="5715000" cy="1381125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82342" y="5562600"/>
            <a:ext cx="10810034" cy="1200329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i="1" dirty="0"/>
              <a:t>p</a:t>
            </a:r>
            <a:r>
              <a:rPr lang="fr-FR" i="1" dirty="0" smtClean="0"/>
              <a:t>ar Théo SIGNORE</a:t>
            </a:r>
          </a:p>
          <a:p>
            <a:pPr algn="ctr"/>
            <a:r>
              <a:rPr lang="fr-FR" i="1" dirty="0"/>
              <a:t>s</a:t>
            </a:r>
            <a:r>
              <a:rPr lang="fr-FR" i="1" dirty="0" smtClean="0"/>
              <a:t>tage du 27 mai 2019 au 28 juin 2019</a:t>
            </a:r>
          </a:p>
          <a:p>
            <a:pPr algn="ctr"/>
            <a:r>
              <a:rPr lang="fr-FR" i="1" dirty="0" smtClean="0"/>
              <a:t>Entreprise </a:t>
            </a:r>
            <a:r>
              <a:rPr lang="fr-FR" i="1" dirty="0" err="1" smtClean="0"/>
              <a:t>Movianto</a:t>
            </a:r>
            <a:r>
              <a:rPr lang="fr-FR" i="1" dirty="0" smtClean="0"/>
              <a:t> à </a:t>
            </a:r>
            <a:r>
              <a:rPr lang="fr-FR" i="1" dirty="0" err="1" smtClean="0"/>
              <a:t>Gonnesse</a:t>
            </a:r>
            <a:r>
              <a:rPr lang="fr-FR" i="1" dirty="0" smtClean="0"/>
              <a:t> 95500</a:t>
            </a:r>
          </a:p>
          <a:p>
            <a:pPr algn="ctr"/>
            <a:r>
              <a:rPr lang="fr-FR" i="1" dirty="0" smtClean="0"/>
              <a:t>Tuteur: M. Christophe DELAMOTTE, Directeur informatique région sud - </a:t>
            </a:r>
            <a:r>
              <a:rPr lang="en-US" i="1" dirty="0" smtClean="0"/>
              <a:t>Christophe.Delamotte@owens-minor.com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018058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 smtClean="0">
                <a:solidFill>
                  <a:srgbClr val="98012E"/>
                </a:solidFill>
              </a:rPr>
              <a:t>Distribution de produit pharmaceutique et parapharmaceutique</a:t>
            </a:r>
            <a:endParaRPr lang="en-US" u="sng" dirty="0">
              <a:solidFill>
                <a:srgbClr val="98012E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4914" y="2761795"/>
            <a:ext cx="10994571" cy="2681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smtClean="0">
                <a:solidFill>
                  <a:srgbClr val="98012E"/>
                </a:solidFill>
              </a:rPr>
              <a:t>Zone d’intervention: </a:t>
            </a:r>
            <a:r>
              <a:rPr lang="fr-FR" dirty="0" smtClean="0"/>
              <a:t>Europe</a:t>
            </a:r>
          </a:p>
          <a:p>
            <a:pPr marL="0" indent="0">
              <a:buNone/>
            </a:pPr>
            <a:r>
              <a:rPr lang="fr-FR" dirty="0" err="1" smtClean="0"/>
              <a:t>Movianto</a:t>
            </a:r>
            <a:r>
              <a:rPr lang="fr-FR" dirty="0" smtClean="0"/>
              <a:t> SAS redistribue et revend des produits pharmaceutique et parapharmaceutique provenant des laboratoires à des grossistes, des hôpitaux et des pharmacies.</a:t>
            </a:r>
          </a:p>
          <a:p>
            <a:pPr marL="0" indent="0">
              <a:buNone/>
            </a:pPr>
            <a:r>
              <a:rPr lang="fr-FR" dirty="0" err="1" smtClean="0"/>
              <a:t>Movianto</a:t>
            </a:r>
            <a:r>
              <a:rPr lang="fr-FR" dirty="0" smtClean="0"/>
              <a:t> réceptionne et stock les produits puis fais appel à des transporteurs pour livrer les établissements.</a:t>
            </a:r>
          </a:p>
        </p:txBody>
      </p:sp>
    </p:spTree>
    <p:extLst>
      <p:ext uri="{BB962C8B-B14F-4D97-AF65-F5344CB8AC3E}">
        <p14:creationId xmlns:p14="http://schemas.microsoft.com/office/powerpoint/2010/main" val="1616553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7875"/>
          </a:xfrm>
        </p:spPr>
        <p:txBody>
          <a:bodyPr/>
          <a:lstStyle/>
          <a:p>
            <a:pPr algn="ctr"/>
            <a:r>
              <a:rPr lang="fr-FR" u="sng" dirty="0" smtClean="0">
                <a:solidFill>
                  <a:srgbClr val="98012E"/>
                </a:solidFill>
              </a:rPr>
              <a:t>Le marché</a:t>
            </a:r>
            <a:endParaRPr lang="en-US" u="sng" dirty="0">
              <a:solidFill>
                <a:srgbClr val="98012E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777875"/>
            <a:ext cx="10515600" cy="5797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 smtClean="0"/>
              <a:t>Le marché est le lieu de rencontre entre l’offre et la demande.</a:t>
            </a:r>
          </a:p>
          <a:p>
            <a:pPr marL="0" indent="0">
              <a:buNone/>
            </a:pPr>
            <a:endParaRPr lang="fr-FR" sz="1600" dirty="0" smtClean="0"/>
          </a:p>
          <a:p>
            <a:pPr marL="0" indent="0">
              <a:buNone/>
            </a:pPr>
            <a:r>
              <a:rPr lang="fr-FR" sz="1600" dirty="0" smtClean="0"/>
              <a:t>Objet: La distribution de produit pharmaceutique en </a:t>
            </a:r>
            <a:r>
              <a:rPr lang="fr-FR" sz="1600" dirty="0" err="1" smtClean="0"/>
              <a:t>europe</a:t>
            </a:r>
            <a:endParaRPr lang="fr-FR" sz="1600" dirty="0" smtClean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1600" u="sng" dirty="0" smtClean="0"/>
              <a:t>Analyse statique:</a:t>
            </a:r>
          </a:p>
          <a:p>
            <a:pPr>
              <a:buFontTx/>
              <a:buChar char="-"/>
            </a:pPr>
            <a:r>
              <a:rPr lang="fr-FR" sz="1600" dirty="0" smtClean="0"/>
              <a:t>L’offre sur ce marché est composé de nombreuse </a:t>
            </a:r>
            <a:r>
              <a:rPr lang="fr-FR" sz="1600" dirty="0" smtClean="0"/>
              <a:t>entreprise, </a:t>
            </a:r>
            <a:r>
              <a:rPr lang="fr-FR" sz="1600" dirty="0" smtClean="0"/>
              <a:t>mais reste dominé par quelques une d’entre </a:t>
            </a:r>
            <a:r>
              <a:rPr lang="fr-FR" sz="1600" dirty="0" smtClean="0"/>
              <a:t>elles </a:t>
            </a:r>
            <a:r>
              <a:rPr lang="fr-FR" sz="1600" dirty="0" smtClean="0"/>
              <a:t>(Phoenix Pharma, </a:t>
            </a:r>
            <a:r>
              <a:rPr lang="fr-FR" sz="1600" dirty="0" err="1" smtClean="0"/>
              <a:t>Celesio</a:t>
            </a:r>
            <a:r>
              <a:rPr lang="fr-FR" sz="1600" dirty="0" smtClean="0"/>
              <a:t> et Alliance Boots)</a:t>
            </a:r>
          </a:p>
          <a:p>
            <a:pPr>
              <a:buFontTx/>
              <a:buChar char="-"/>
            </a:pPr>
            <a:r>
              <a:rPr lang="fr-FR" sz="1600" dirty="0" smtClean="0"/>
              <a:t>La demande est composé de laboratoire voulant distribuer leur produit.</a:t>
            </a:r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1600" dirty="0" smtClean="0"/>
              <a:t>La multitude d’offreur et de demandeur en fait un marché atomisé et leur composition en fait un marché B2B.</a:t>
            </a:r>
          </a:p>
          <a:p>
            <a:pPr marL="0" indent="0">
              <a:buNone/>
            </a:pPr>
            <a:endParaRPr lang="fr-FR" sz="1600" u="sng" dirty="0" smtClean="0"/>
          </a:p>
          <a:p>
            <a:pPr marL="0" indent="0">
              <a:buNone/>
            </a:pPr>
            <a:r>
              <a:rPr lang="fr-FR" sz="1600" u="sng" dirty="0" smtClean="0"/>
              <a:t>Analyse </a:t>
            </a:r>
            <a:r>
              <a:rPr lang="fr-FR" sz="1600" u="sng" dirty="0" smtClean="0"/>
              <a:t>dynamique:</a:t>
            </a:r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r>
              <a:rPr lang="fr-FR" sz="1600" dirty="0" smtClean="0"/>
              <a:t>Les 3 leaders </a:t>
            </a:r>
            <a:r>
              <a:rPr lang="fr-FR" sz="1600" dirty="0"/>
              <a:t>du marché </a:t>
            </a:r>
            <a:r>
              <a:rPr lang="fr-FR" sz="1600" dirty="0" smtClean="0"/>
              <a:t>(Phoenix </a:t>
            </a:r>
            <a:r>
              <a:rPr lang="fr-FR" sz="1600" dirty="0"/>
              <a:t>Pharma, </a:t>
            </a:r>
            <a:r>
              <a:rPr lang="fr-FR" sz="1600" dirty="0" err="1"/>
              <a:t>Celesio</a:t>
            </a:r>
            <a:r>
              <a:rPr lang="fr-FR" sz="1600" dirty="0"/>
              <a:t> et Alliance </a:t>
            </a:r>
            <a:r>
              <a:rPr lang="fr-FR" sz="1600" dirty="0" smtClean="0"/>
              <a:t>Boots) possèdent déjà 16 800 dans le monde et 40% d’entre elle sont en Europe.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46435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13516" y="21771"/>
            <a:ext cx="2514600" cy="1325563"/>
          </a:xfrm>
        </p:spPr>
        <p:txBody>
          <a:bodyPr/>
          <a:lstStyle/>
          <a:p>
            <a:r>
              <a:rPr lang="fr-FR" u="sng" dirty="0" smtClean="0">
                <a:solidFill>
                  <a:srgbClr val="98012E"/>
                </a:solidFill>
              </a:rPr>
              <a:t>Historique</a:t>
            </a:r>
            <a:endParaRPr lang="en-US" u="sng" dirty="0">
              <a:solidFill>
                <a:srgbClr val="98012E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665516" y="2231571"/>
            <a:ext cx="8610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Consolas" panose="020B0609020204030204" pitchFamily="49" charset="0"/>
              </a:rPr>
              <a:t>08/1977</a:t>
            </a:r>
            <a:r>
              <a:rPr lang="fr-FR" dirty="0" smtClean="0"/>
              <a:t> – Création de l’entreprise </a:t>
            </a:r>
            <a:r>
              <a:rPr lang="fr-FR" i="1" dirty="0" smtClean="0"/>
              <a:t>DGX Pharma</a:t>
            </a:r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r>
              <a:rPr lang="fr-FR" dirty="0" smtClean="0">
                <a:latin typeface="Consolas" panose="020B0609020204030204" pitchFamily="49" charset="0"/>
              </a:rPr>
              <a:t>2004</a:t>
            </a:r>
            <a:r>
              <a:rPr lang="fr-FR" dirty="0" smtClean="0"/>
              <a:t> – Rachat de </a:t>
            </a:r>
            <a:r>
              <a:rPr lang="fr-FR" i="1" dirty="0" smtClean="0"/>
              <a:t>DGX Pharma</a:t>
            </a:r>
            <a:r>
              <a:rPr lang="fr-FR" dirty="0" smtClean="0"/>
              <a:t> et changement de nom par le groupe </a:t>
            </a:r>
            <a:r>
              <a:rPr lang="fr-FR" i="1" dirty="0" err="1" smtClean="0"/>
              <a:t>Celesio</a:t>
            </a:r>
            <a:endParaRPr lang="fr-FR" i="1" dirty="0" smtClean="0"/>
          </a:p>
          <a:p>
            <a:r>
              <a:rPr lang="fr-FR" i="1" dirty="0" smtClean="0"/>
              <a:t>DGX Pharma </a:t>
            </a:r>
            <a:r>
              <a:rPr lang="fr-FR" dirty="0" smtClean="0"/>
              <a:t>devient alors </a:t>
            </a:r>
            <a:r>
              <a:rPr lang="fr-FR" i="1" dirty="0" err="1" smtClean="0"/>
              <a:t>Movianto</a:t>
            </a:r>
            <a:endParaRPr lang="fr-FR" i="1" dirty="0" smtClean="0"/>
          </a:p>
          <a:p>
            <a:endParaRPr lang="fr-FR" dirty="0" smtClean="0"/>
          </a:p>
          <a:p>
            <a:endParaRPr lang="fr-FR" dirty="0"/>
          </a:p>
          <a:p>
            <a:endParaRPr lang="fr-FR" dirty="0"/>
          </a:p>
          <a:p>
            <a:r>
              <a:rPr lang="fr-FR" dirty="0" smtClean="0">
                <a:latin typeface="Consolas" panose="020B0609020204030204" pitchFamily="49" charset="0"/>
              </a:rPr>
              <a:t>2012</a:t>
            </a:r>
            <a:r>
              <a:rPr lang="fr-FR" dirty="0" smtClean="0"/>
              <a:t> – Rachat de </a:t>
            </a:r>
            <a:r>
              <a:rPr lang="fr-FR" i="1" dirty="0" err="1" smtClean="0"/>
              <a:t>Movianto</a:t>
            </a:r>
            <a:r>
              <a:rPr lang="fr-FR" dirty="0" smtClean="0"/>
              <a:t> par le groupe </a:t>
            </a:r>
            <a:r>
              <a:rPr lang="fr-FR" i="1" dirty="0" smtClean="0"/>
              <a:t>Owens and Minor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859895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01857"/>
          </a:xfrm>
        </p:spPr>
        <p:txBody>
          <a:bodyPr>
            <a:normAutofit/>
          </a:bodyPr>
          <a:lstStyle/>
          <a:p>
            <a:pPr algn="ctr"/>
            <a:r>
              <a:rPr lang="fr-FR" u="sng" dirty="0" smtClean="0">
                <a:solidFill>
                  <a:srgbClr val="98012E"/>
                </a:solidFill>
              </a:rPr>
              <a:t>Les ressources de l’entreprise</a:t>
            </a:r>
            <a:endParaRPr lang="en-US" u="sng" dirty="0">
              <a:solidFill>
                <a:srgbClr val="98012E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9571" y="1175266"/>
            <a:ext cx="5823858" cy="2215991"/>
          </a:xfrm>
          <a:prstGeom prst="rect">
            <a:avLst/>
          </a:prstGeom>
          <a:noFill/>
          <a:ln>
            <a:solidFill>
              <a:srgbClr val="98012E"/>
            </a:solidFill>
          </a:ln>
        </p:spPr>
        <p:txBody>
          <a:bodyPr wrap="square" rtlCol="0">
            <a:spAutoFit/>
          </a:bodyPr>
          <a:lstStyle/>
          <a:p>
            <a:r>
              <a:rPr lang="fr-FR" b="1" u="sng" dirty="0" smtClean="0"/>
              <a:t>Ressources tangibles: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49 sites dans 12 pays</a:t>
            </a:r>
          </a:p>
          <a:p>
            <a:r>
              <a:rPr lang="fr-FR" sz="1200" i="1" dirty="0" smtClean="0"/>
              <a:t>Belgique, France, </a:t>
            </a:r>
            <a:r>
              <a:rPr lang="fr-FR" sz="1200" i="1" dirty="0" err="1" smtClean="0"/>
              <a:t>Royaume-Unie</a:t>
            </a:r>
            <a:r>
              <a:rPr lang="fr-FR" sz="1200" i="1" dirty="0" smtClean="0"/>
              <a:t>, Espagne, République Tchèque, Allemagne, Ireland, Pologne, </a:t>
            </a:r>
            <a:r>
              <a:rPr lang="fr-FR" sz="1200" i="1" dirty="0" err="1" smtClean="0"/>
              <a:t>Slovakie</a:t>
            </a:r>
            <a:r>
              <a:rPr lang="fr-FR" sz="1200" i="1" dirty="0" smtClean="0"/>
              <a:t>, Danemark et </a:t>
            </a:r>
            <a:r>
              <a:rPr lang="fr-FR" sz="1200" i="1" dirty="0" err="1" smtClean="0"/>
              <a:t>Pays-bas</a:t>
            </a:r>
            <a:endParaRPr lang="fr-FR" sz="1200" i="1" dirty="0" smtClean="0"/>
          </a:p>
          <a:p>
            <a:endParaRPr lang="fr-FR" sz="1200" i="1" dirty="0"/>
          </a:p>
          <a:p>
            <a:endParaRPr lang="fr-FR" sz="1200" i="1" dirty="0" smtClean="0"/>
          </a:p>
          <a:p>
            <a:pPr marL="285750" indent="-285750">
              <a:buFontTx/>
              <a:buChar char="-"/>
            </a:pPr>
            <a:r>
              <a:rPr lang="fr-FR" dirty="0" smtClean="0"/>
              <a:t>~2400 Employés en région Europe</a:t>
            </a:r>
          </a:p>
          <a:p>
            <a:endParaRPr lang="fr-FR" dirty="0" smtClean="0"/>
          </a:p>
          <a:p>
            <a:pPr marL="285750" indent="-285750">
              <a:buFontTx/>
              <a:buChar char="-"/>
            </a:pPr>
            <a:r>
              <a:rPr lang="fr-FR" dirty="0" smtClean="0"/>
              <a:t>Capital de 38 940 375€</a:t>
            </a:r>
            <a:endParaRPr lang="en-US" dirty="0"/>
          </a:p>
        </p:txBody>
      </p:sp>
      <p:sp>
        <p:nvSpPr>
          <p:cNvPr id="5" name="ZoneTexte 4"/>
          <p:cNvSpPr txBox="1"/>
          <p:nvPr/>
        </p:nvSpPr>
        <p:spPr>
          <a:xfrm>
            <a:off x="6096000" y="1175266"/>
            <a:ext cx="5823858" cy="646331"/>
          </a:xfrm>
          <a:prstGeom prst="rect">
            <a:avLst/>
          </a:prstGeom>
          <a:noFill/>
          <a:ln>
            <a:solidFill>
              <a:srgbClr val="98012E"/>
            </a:solidFill>
          </a:ln>
        </p:spPr>
        <p:txBody>
          <a:bodyPr wrap="square" rtlCol="0">
            <a:spAutoFit/>
          </a:bodyPr>
          <a:lstStyle/>
          <a:p>
            <a:r>
              <a:rPr lang="fr-FR" b="1" u="sng" dirty="0" smtClean="0"/>
              <a:t>Ressources intangibles: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~</a:t>
            </a:r>
            <a:r>
              <a:rPr lang="fr-FR" dirty="0"/>
              <a:t>2400 </a:t>
            </a:r>
            <a:r>
              <a:rPr lang="fr-FR" dirty="0" smtClean="0"/>
              <a:t>Employés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581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 smtClean="0">
                <a:solidFill>
                  <a:srgbClr val="98012E"/>
                </a:solidFill>
              </a:rPr>
              <a:t>Externalisation et sous-traitance</a:t>
            </a:r>
            <a:endParaRPr lang="en-US" u="sng" dirty="0">
              <a:solidFill>
                <a:srgbClr val="98012E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913976" y="1958307"/>
            <a:ext cx="6364047" cy="1477328"/>
          </a:xfrm>
          <a:prstGeom prst="rect">
            <a:avLst/>
          </a:prstGeom>
          <a:noFill/>
          <a:ln>
            <a:solidFill>
              <a:srgbClr val="98012E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Une partie du système informatique concernant la gestion des utilisateurs Windows est géré par un prestataire nommé </a:t>
            </a:r>
            <a:r>
              <a:rPr lang="fr-FR" dirty="0" err="1" smtClean="0"/>
              <a:t>NTTData</a:t>
            </a:r>
            <a:r>
              <a:rPr lang="fr-FR" dirty="0" smtClean="0"/>
              <a:t>.</a:t>
            </a:r>
          </a:p>
          <a:p>
            <a:r>
              <a:rPr lang="fr-FR" dirty="0" smtClean="0"/>
              <a:t>L’ancien prestataire était </a:t>
            </a:r>
            <a:r>
              <a:rPr lang="fr-FR" dirty="0" err="1" smtClean="0"/>
              <a:t>CanCom</a:t>
            </a:r>
            <a:r>
              <a:rPr lang="fr-FR" dirty="0"/>
              <a:t> </a:t>
            </a:r>
            <a:r>
              <a:rPr lang="fr-FR" dirty="0" smtClean="0"/>
              <a:t>IT System</a:t>
            </a:r>
            <a:r>
              <a:rPr lang="fr-FR" dirty="0" smtClean="0"/>
              <a:t> </a:t>
            </a:r>
            <a:r>
              <a:rPr lang="fr-FR" dirty="0" smtClean="0"/>
              <a:t>mais après le rachat par Owens and </a:t>
            </a:r>
            <a:r>
              <a:rPr lang="fr-FR" dirty="0" smtClean="0"/>
              <a:t>Minor qui faisait déjà appelle à </a:t>
            </a:r>
            <a:r>
              <a:rPr lang="fr-FR" dirty="0" err="1" smtClean="0"/>
              <a:t>NTTData</a:t>
            </a:r>
            <a:r>
              <a:rPr lang="fr-FR" dirty="0" smtClean="0"/>
              <a:t>, </a:t>
            </a:r>
            <a:r>
              <a:rPr lang="fr-FR" dirty="0" smtClean="0"/>
              <a:t>ils ont décidé de placer tout le monde avec le même prestataire.</a:t>
            </a:r>
            <a:endParaRPr lang="en-US" dirty="0"/>
          </a:p>
        </p:txBody>
      </p:sp>
      <p:sp>
        <p:nvSpPr>
          <p:cNvPr id="5" name="ZoneTexte 4"/>
          <p:cNvSpPr txBox="1"/>
          <p:nvPr/>
        </p:nvSpPr>
        <p:spPr>
          <a:xfrm>
            <a:off x="2913975" y="4173972"/>
            <a:ext cx="6364047" cy="646331"/>
          </a:xfrm>
          <a:prstGeom prst="rect">
            <a:avLst/>
          </a:prstGeom>
          <a:noFill/>
          <a:ln>
            <a:solidFill>
              <a:srgbClr val="98012E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Pour livrer les produits, </a:t>
            </a:r>
            <a:r>
              <a:rPr lang="fr-FR" dirty="0" err="1" smtClean="0"/>
              <a:t>Movianto</a:t>
            </a:r>
            <a:r>
              <a:rPr lang="fr-FR" dirty="0" smtClean="0"/>
              <a:t> fait appel à de nombreux transporteurs.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75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14500" y="234497"/>
            <a:ext cx="8958943" cy="1325563"/>
          </a:xfrm>
        </p:spPr>
        <p:txBody>
          <a:bodyPr/>
          <a:lstStyle/>
          <a:p>
            <a:pPr algn="ctr"/>
            <a:r>
              <a:rPr lang="fr-FR" u="sng" dirty="0" err="1" smtClean="0">
                <a:solidFill>
                  <a:srgbClr val="98012E"/>
                </a:solidFill>
              </a:rPr>
              <a:t>Movianto</a:t>
            </a:r>
            <a:r>
              <a:rPr lang="fr-FR" u="sng" dirty="0" smtClean="0">
                <a:solidFill>
                  <a:srgbClr val="98012E"/>
                </a:solidFill>
              </a:rPr>
              <a:t> et le développement durable</a:t>
            </a:r>
            <a:endParaRPr lang="en-US" u="sng" dirty="0">
              <a:solidFill>
                <a:srgbClr val="98012E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792185" y="3220448"/>
            <a:ext cx="6803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 smtClean="0"/>
              <a:t>Les emballages utilisé dans les entrepôts sont trié avant d’être jetés.</a:t>
            </a:r>
          </a:p>
        </p:txBody>
      </p:sp>
    </p:spTree>
    <p:extLst>
      <p:ext uri="{BB962C8B-B14F-4D97-AF65-F5344CB8AC3E}">
        <p14:creationId xmlns:p14="http://schemas.microsoft.com/office/powerpoint/2010/main" val="951950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4299533" y="1097613"/>
            <a:ext cx="2667000" cy="511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938452" y="3159825"/>
            <a:ext cx="1482677" cy="36933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ZoneTexte 17"/>
          <p:cNvSpPr txBox="1"/>
          <p:nvPr/>
        </p:nvSpPr>
        <p:spPr>
          <a:xfrm>
            <a:off x="4299533" y="1168761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Vice président IT</a:t>
            </a:r>
            <a:endParaRPr lang="en-US" dirty="0"/>
          </a:p>
        </p:txBody>
      </p:sp>
      <p:sp>
        <p:nvSpPr>
          <p:cNvPr id="2" name="Rectangle à coins arrondis 1"/>
          <p:cNvSpPr/>
          <p:nvPr/>
        </p:nvSpPr>
        <p:spPr>
          <a:xfrm>
            <a:off x="778598" y="2550059"/>
            <a:ext cx="751438" cy="3078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à coins arrondis 5"/>
          <p:cNvSpPr/>
          <p:nvPr/>
        </p:nvSpPr>
        <p:spPr>
          <a:xfrm>
            <a:off x="2531953" y="2550059"/>
            <a:ext cx="751438" cy="3078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à coins arrondis 6"/>
          <p:cNvSpPr/>
          <p:nvPr/>
        </p:nvSpPr>
        <p:spPr>
          <a:xfrm>
            <a:off x="9910526" y="2550059"/>
            <a:ext cx="751438" cy="3078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à coins arrondis 7"/>
          <p:cNvSpPr/>
          <p:nvPr/>
        </p:nvSpPr>
        <p:spPr>
          <a:xfrm>
            <a:off x="8062810" y="2550059"/>
            <a:ext cx="751438" cy="3078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à coins arrondis 8"/>
          <p:cNvSpPr/>
          <p:nvPr/>
        </p:nvSpPr>
        <p:spPr>
          <a:xfrm>
            <a:off x="6215095" y="2550059"/>
            <a:ext cx="751438" cy="30781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à coins arrondis 9"/>
          <p:cNvSpPr/>
          <p:nvPr/>
        </p:nvSpPr>
        <p:spPr>
          <a:xfrm>
            <a:off x="4299533" y="2550059"/>
            <a:ext cx="751438" cy="307818"/>
          </a:xfrm>
          <a:prstGeom prst="roundRect">
            <a:avLst/>
          </a:prstGeom>
          <a:solidFill>
            <a:schemeClr val="bg1"/>
          </a:solidFill>
          <a:ln>
            <a:solidFill>
              <a:srgbClr val="980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/>
          <p:cNvSpPr txBox="1"/>
          <p:nvPr/>
        </p:nvSpPr>
        <p:spPr>
          <a:xfrm>
            <a:off x="4299533" y="2519302"/>
            <a:ext cx="67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FR</a:t>
            </a:r>
            <a:endParaRPr lang="en-US" dirty="0"/>
          </a:p>
        </p:txBody>
      </p:sp>
      <p:sp>
        <p:nvSpPr>
          <p:cNvPr id="23" name="ZoneTexte 22"/>
          <p:cNvSpPr txBox="1"/>
          <p:nvPr/>
        </p:nvSpPr>
        <p:spPr>
          <a:xfrm>
            <a:off x="2530822" y="2519302"/>
            <a:ext cx="75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GB</a:t>
            </a:r>
            <a:endParaRPr lang="en-US" dirty="0"/>
          </a:p>
        </p:txBody>
      </p:sp>
      <p:sp>
        <p:nvSpPr>
          <p:cNvPr id="24" name="ZoneTexte 23"/>
          <p:cNvSpPr txBox="1"/>
          <p:nvPr/>
        </p:nvSpPr>
        <p:spPr>
          <a:xfrm>
            <a:off x="775721" y="2519302"/>
            <a:ext cx="75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DE</a:t>
            </a:r>
            <a:endParaRPr lang="en-US" dirty="0"/>
          </a:p>
        </p:txBody>
      </p:sp>
      <p:sp>
        <p:nvSpPr>
          <p:cNvPr id="25" name="ZoneTexte 24"/>
          <p:cNvSpPr txBox="1"/>
          <p:nvPr/>
        </p:nvSpPr>
        <p:spPr>
          <a:xfrm>
            <a:off x="6198608" y="2519302"/>
            <a:ext cx="75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ES</a:t>
            </a:r>
            <a:endParaRPr lang="en-US" dirty="0"/>
          </a:p>
        </p:txBody>
      </p:sp>
      <p:sp>
        <p:nvSpPr>
          <p:cNvPr id="26" name="ZoneTexte 25"/>
          <p:cNvSpPr txBox="1"/>
          <p:nvPr/>
        </p:nvSpPr>
        <p:spPr>
          <a:xfrm>
            <a:off x="8054567" y="2519302"/>
            <a:ext cx="75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PL</a:t>
            </a:r>
            <a:endParaRPr lang="en-US" dirty="0"/>
          </a:p>
        </p:txBody>
      </p:sp>
      <p:sp>
        <p:nvSpPr>
          <p:cNvPr id="27" name="ZoneTexte 26"/>
          <p:cNvSpPr txBox="1"/>
          <p:nvPr/>
        </p:nvSpPr>
        <p:spPr>
          <a:xfrm>
            <a:off x="9910526" y="2521741"/>
            <a:ext cx="75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BE</a:t>
            </a:r>
            <a:endParaRPr lang="en-US" dirty="0"/>
          </a:p>
        </p:txBody>
      </p:sp>
      <p:cxnSp>
        <p:nvCxnSpPr>
          <p:cNvPr id="5" name="Connecteur droit 4"/>
          <p:cNvCxnSpPr>
            <a:stCxn id="13" idx="2"/>
          </p:cNvCxnSpPr>
          <p:nvPr/>
        </p:nvCxnSpPr>
        <p:spPr>
          <a:xfrm>
            <a:off x="5633033" y="1609241"/>
            <a:ext cx="0" cy="645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H="1">
            <a:off x="1154317" y="2248110"/>
            <a:ext cx="447871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>
            <a:off x="4692855" y="2248110"/>
            <a:ext cx="0" cy="271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/>
          <p:cNvCxnSpPr>
            <a:stCxn id="23" idx="0"/>
          </p:cNvCxnSpPr>
          <p:nvPr/>
        </p:nvCxnSpPr>
        <p:spPr>
          <a:xfrm flipV="1">
            <a:off x="2906541" y="2248111"/>
            <a:ext cx="1" cy="271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34"/>
          <p:cNvCxnSpPr>
            <a:stCxn id="24" idx="0"/>
          </p:cNvCxnSpPr>
          <p:nvPr/>
        </p:nvCxnSpPr>
        <p:spPr>
          <a:xfrm flipH="1" flipV="1">
            <a:off x="1147225" y="2248110"/>
            <a:ext cx="4215" cy="271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36"/>
          <p:cNvCxnSpPr/>
          <p:nvPr/>
        </p:nvCxnSpPr>
        <p:spPr>
          <a:xfrm>
            <a:off x="5633033" y="2248110"/>
            <a:ext cx="46532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43"/>
          <p:cNvCxnSpPr>
            <a:stCxn id="25" idx="0"/>
          </p:cNvCxnSpPr>
          <p:nvPr/>
        </p:nvCxnSpPr>
        <p:spPr>
          <a:xfrm flipV="1">
            <a:off x="6574327" y="2248110"/>
            <a:ext cx="0" cy="271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/>
          <p:cNvCxnSpPr>
            <a:stCxn id="26" idx="0"/>
          </p:cNvCxnSpPr>
          <p:nvPr/>
        </p:nvCxnSpPr>
        <p:spPr>
          <a:xfrm flipH="1" flipV="1">
            <a:off x="8426451" y="2248110"/>
            <a:ext cx="3835" cy="271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47"/>
          <p:cNvCxnSpPr>
            <a:stCxn id="27" idx="0"/>
          </p:cNvCxnSpPr>
          <p:nvPr/>
        </p:nvCxnSpPr>
        <p:spPr>
          <a:xfrm flipV="1">
            <a:off x="10286245" y="2248110"/>
            <a:ext cx="0" cy="2736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ZoneTexte 63"/>
          <p:cNvSpPr txBox="1"/>
          <p:nvPr/>
        </p:nvSpPr>
        <p:spPr>
          <a:xfrm>
            <a:off x="3929374" y="3159825"/>
            <a:ext cx="1491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C. </a:t>
            </a:r>
            <a:r>
              <a:rPr lang="fr-FR" sz="1600" dirty="0" smtClean="0"/>
              <a:t>DELAMOTTE</a:t>
            </a:r>
            <a:endParaRPr lang="en-US" sz="1600" dirty="0"/>
          </a:p>
        </p:txBody>
      </p:sp>
      <p:cxnSp>
        <p:nvCxnSpPr>
          <p:cNvPr id="66" name="Connecteur droit 65"/>
          <p:cNvCxnSpPr>
            <a:stCxn id="14" idx="0"/>
            <a:endCxn id="10" idx="2"/>
          </p:cNvCxnSpPr>
          <p:nvPr/>
        </p:nvCxnSpPr>
        <p:spPr>
          <a:xfrm flipH="1" flipV="1">
            <a:off x="4675252" y="2857877"/>
            <a:ext cx="4539" cy="301948"/>
          </a:xfrm>
          <a:prstGeom prst="line">
            <a:avLst/>
          </a:prstGeom>
          <a:ln>
            <a:solidFill>
              <a:srgbClr val="98012E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Ellipse 66"/>
          <p:cNvSpPr/>
          <p:nvPr/>
        </p:nvSpPr>
        <p:spPr>
          <a:xfrm>
            <a:off x="2530822" y="4386135"/>
            <a:ext cx="1846907" cy="389299"/>
          </a:xfrm>
          <a:prstGeom prst="ellipse">
            <a:avLst/>
          </a:prstGeom>
          <a:solidFill>
            <a:schemeClr val="bg1"/>
          </a:solidFill>
          <a:ln>
            <a:solidFill>
              <a:srgbClr val="980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Ellipse 67"/>
          <p:cNvSpPr/>
          <p:nvPr/>
        </p:nvSpPr>
        <p:spPr>
          <a:xfrm>
            <a:off x="5119626" y="4386135"/>
            <a:ext cx="1846907" cy="38929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ZoneTexte 68"/>
          <p:cNvSpPr txBox="1"/>
          <p:nvPr/>
        </p:nvSpPr>
        <p:spPr>
          <a:xfrm>
            <a:off x="2890114" y="4416892"/>
            <a:ext cx="1385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 smtClean="0"/>
              <a:t>Applications</a:t>
            </a:r>
            <a:endParaRPr lang="en-US" sz="1600" u="sng" dirty="0"/>
          </a:p>
        </p:txBody>
      </p:sp>
      <p:sp>
        <p:nvSpPr>
          <p:cNvPr id="70" name="ZoneTexte 69"/>
          <p:cNvSpPr txBox="1"/>
          <p:nvPr/>
        </p:nvSpPr>
        <p:spPr>
          <a:xfrm>
            <a:off x="5421129" y="4411507"/>
            <a:ext cx="15289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 smtClean="0"/>
              <a:t>Infrastructures</a:t>
            </a:r>
            <a:endParaRPr lang="en-US" sz="1600" u="sng" dirty="0"/>
          </a:p>
        </p:txBody>
      </p:sp>
      <p:cxnSp>
        <p:nvCxnSpPr>
          <p:cNvPr id="72" name="Connecteur droit 71"/>
          <p:cNvCxnSpPr>
            <a:stCxn id="67" idx="0"/>
          </p:cNvCxnSpPr>
          <p:nvPr/>
        </p:nvCxnSpPr>
        <p:spPr>
          <a:xfrm flipV="1">
            <a:off x="3454276" y="3529157"/>
            <a:ext cx="923453" cy="856978"/>
          </a:xfrm>
          <a:prstGeom prst="line">
            <a:avLst/>
          </a:prstGeom>
          <a:ln>
            <a:solidFill>
              <a:srgbClr val="98012E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necteur droit 73"/>
          <p:cNvCxnSpPr>
            <a:stCxn id="68" idx="0"/>
          </p:cNvCxnSpPr>
          <p:nvPr/>
        </p:nvCxnSpPr>
        <p:spPr>
          <a:xfrm flipH="1" flipV="1">
            <a:off x="5050971" y="3529157"/>
            <a:ext cx="992109" cy="8569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Losange 74"/>
          <p:cNvSpPr/>
          <p:nvPr/>
        </p:nvSpPr>
        <p:spPr>
          <a:xfrm>
            <a:off x="4090695" y="5181062"/>
            <a:ext cx="887434" cy="733331"/>
          </a:xfrm>
          <a:prstGeom prst="diamond">
            <a:avLst/>
          </a:prstGeom>
          <a:solidFill>
            <a:schemeClr val="bg1"/>
          </a:solidFill>
          <a:ln>
            <a:solidFill>
              <a:srgbClr val="980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Connecteur droit 76"/>
          <p:cNvCxnSpPr/>
          <p:nvPr/>
        </p:nvCxnSpPr>
        <p:spPr>
          <a:xfrm flipH="1" flipV="1">
            <a:off x="4090695" y="4750061"/>
            <a:ext cx="287034" cy="493052"/>
          </a:xfrm>
          <a:prstGeom prst="line">
            <a:avLst/>
          </a:prstGeom>
          <a:ln>
            <a:solidFill>
              <a:srgbClr val="98012E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ZoneTexte 78"/>
          <p:cNvSpPr txBox="1"/>
          <p:nvPr/>
        </p:nvSpPr>
        <p:spPr>
          <a:xfrm>
            <a:off x="3977612" y="5243113"/>
            <a:ext cx="1142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98012E"/>
                </a:solidFill>
              </a:rPr>
              <a:t>Théo SIGNORE</a:t>
            </a:r>
            <a:endParaRPr lang="en-US" sz="1400" dirty="0">
              <a:solidFill>
                <a:srgbClr val="98012E"/>
              </a:solidFill>
            </a:endParaRPr>
          </a:p>
        </p:txBody>
      </p:sp>
      <p:sp>
        <p:nvSpPr>
          <p:cNvPr id="80" name="ZoneTexte 79"/>
          <p:cNvSpPr txBox="1"/>
          <p:nvPr/>
        </p:nvSpPr>
        <p:spPr>
          <a:xfrm>
            <a:off x="564425" y="112671"/>
            <a:ext cx="101372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u="sng" dirty="0" smtClean="0">
                <a:solidFill>
                  <a:srgbClr val="98012E"/>
                </a:solidFill>
              </a:rPr>
              <a:t>Organisation de l’informatique de </a:t>
            </a:r>
            <a:r>
              <a:rPr lang="fr-FR" sz="4400" u="sng" dirty="0" err="1" smtClean="0">
                <a:solidFill>
                  <a:srgbClr val="98012E"/>
                </a:solidFill>
              </a:rPr>
              <a:t>Movianto</a:t>
            </a:r>
            <a:endParaRPr lang="en-US" sz="4400" u="sng" dirty="0">
              <a:solidFill>
                <a:srgbClr val="9801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85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 smtClean="0">
                <a:solidFill>
                  <a:srgbClr val="98012E"/>
                </a:solidFill>
              </a:rPr>
              <a:t>Problèmes juridiques</a:t>
            </a:r>
            <a:endParaRPr lang="en-US" u="sng" dirty="0">
              <a:solidFill>
                <a:srgbClr val="98012E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75785" y="1690688"/>
            <a:ext cx="112404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Litiges du 20/06/2012</a:t>
            </a:r>
          </a:p>
          <a:p>
            <a:endParaRPr lang="fr-FR" dirty="0"/>
          </a:p>
          <a:p>
            <a:r>
              <a:rPr lang="fr-FR" dirty="0" smtClean="0"/>
              <a:t>Monsieur X, directeur du développement des ventes a voulu rompre son contrat et contestait son le calcul de son </a:t>
            </a:r>
            <a:r>
              <a:rPr lang="fr-FR" dirty="0" smtClean="0"/>
              <a:t>bonus, car il estimait avoir rempli </a:t>
            </a:r>
            <a:r>
              <a:rPr lang="fr-FR" dirty="0"/>
              <a:t>s</a:t>
            </a:r>
            <a:r>
              <a:rPr lang="fr-FR" dirty="0" smtClean="0"/>
              <a:t>es objectifs. </a:t>
            </a:r>
            <a:r>
              <a:rPr lang="fr-FR" dirty="0" smtClean="0"/>
              <a:t>De plus, il s’est fait licencier d’une manière assez vexante: </a:t>
            </a:r>
            <a:r>
              <a:rPr lang="fr-FR" dirty="0"/>
              <a:t>u</a:t>
            </a:r>
            <a:r>
              <a:rPr lang="fr-FR" dirty="0" smtClean="0"/>
              <a:t>n autre employé, sur ordre de son supérieur, lui a rapporté ses affaires personnels présente dans son bureau dans un carton et ce, avant même l’entretien préalable au licenciement.</a:t>
            </a:r>
          </a:p>
          <a:p>
            <a:endParaRPr lang="fr-FR" dirty="0"/>
          </a:p>
          <a:p>
            <a:r>
              <a:rPr lang="fr-FR" dirty="0" smtClean="0"/>
              <a:t>L’affaire a été amené jusqu’en </a:t>
            </a:r>
            <a:r>
              <a:rPr lang="fr-FR" dirty="0" smtClean="0"/>
              <a:t>cassation où </a:t>
            </a:r>
            <a:r>
              <a:rPr lang="fr-FR" dirty="0" err="1" smtClean="0"/>
              <a:t>Movianto</a:t>
            </a:r>
            <a:r>
              <a:rPr lang="fr-FR" dirty="0" smtClean="0"/>
              <a:t> a vu son pourvois rejeté et s’est vu condamné à verser 3000 € à M. X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https</a:t>
            </a:r>
            <a:r>
              <a:rPr lang="fr-FR" dirty="0"/>
              <a:t>://juricaf.org/arret/FRANCE-COURDECASSATION-20171206-1620427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9852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Office PowerPoint</Application>
  <PresentationFormat>Grand écran</PresentationFormat>
  <Paragraphs>83</Paragraphs>
  <Slides>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Thème Office</vt:lpstr>
      <vt:lpstr>Présentation PowerPoint</vt:lpstr>
      <vt:lpstr>Distribution de produit pharmaceutique et parapharmaceutique</vt:lpstr>
      <vt:lpstr>Le marché</vt:lpstr>
      <vt:lpstr>Historique</vt:lpstr>
      <vt:lpstr>Les ressources de l’entreprise</vt:lpstr>
      <vt:lpstr>Externalisation et sous-traitance</vt:lpstr>
      <vt:lpstr>Movianto et le développement durable</vt:lpstr>
      <vt:lpstr>Présentation PowerPoint</vt:lpstr>
      <vt:lpstr>Problèmes juridiques</vt:lpstr>
    </vt:vector>
  </TitlesOfParts>
  <Company>Movianto Group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Signore, Théo</dc:creator>
  <cp:lastModifiedBy>Signore, Théo</cp:lastModifiedBy>
  <cp:revision>75</cp:revision>
  <dcterms:created xsi:type="dcterms:W3CDTF">2019-06-25T06:52:05Z</dcterms:created>
  <dcterms:modified xsi:type="dcterms:W3CDTF">2019-06-28T13:05:57Z</dcterms:modified>
</cp:coreProperties>
</file>